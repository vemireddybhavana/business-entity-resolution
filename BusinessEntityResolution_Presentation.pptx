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ENTERPRISE MACHINE LEARNING SYSTEM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</a:defRPr>
            </a:pPr>
            <a:r>
              <a:t>Business Entity Resolution &amp; Deduplication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High-Precision Cross-Database Record Linkage without Shared Primary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99.33%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Test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75488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484632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99.11%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Precision (Low FP)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75488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484632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99.55%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Recall (High Coverage)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75488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484632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&gt;99.9%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Blocking Pruning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DEFINITION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Core Challenge: Disconnected Data Silos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Enterprises aggregate business records across multiple vendors, CRMs, and public filings (Source 1, Source 2, Source 3).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Zero shared identifiers (No universal Tax ID, DUNS, or primary key).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Duplication corrupts customer analytics, credit scoring, compliance, and marketing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Data Noise &amp; Discrepancies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Spelling errors &amp; typos (e.g., 'Zephay Labs' vs 'Zephari Labs').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Corporate legal suffixes ('Pvt Ltd', 'Inc', 'LLC', 'SARL', 'GmbH').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Address abbreviations ('St' vs 'Street', missing suite numbers).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International variations across countries and regional registries.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828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O(N^2) Computational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Naive pairwise matching between 10,000 x 10,000 records requires 100 Million comparisons.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Test dataset scale (11.7M records) would require 8.4 Trillion comparisons.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- Solution requires an ultra-fast Blocking Engine coupled with High-Precision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DESIGN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574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Data Cleansing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8745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Advanced Text Normalization</a:t>
            </a:r>
            <a:br/>
            <a:r>
              <a:t>- Strip 30+ legal suffixes</a:t>
            </a:r>
            <a:br/>
            <a:r>
              <a:t>- Standardize street abbreviations</a:t>
            </a:r>
            <a:br/>
            <a:r>
              <a:t>- City/State regex token parsing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828800"/>
            <a:ext cx="20574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1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Multi-Key Blocking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68880"/>
            <a:ext cx="18745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Search Space Pruning (&gt;99.9%)</a:t>
            </a:r>
            <a:br/>
            <a:r>
              <a:t>- Prefix key: name[:3]</a:t>
            </a:r>
            <a:br/>
            <a:r>
              <a:t>- Phonetic key: Soundex(name)</a:t>
            </a:r>
            <a:br/>
            <a:r>
              <a:t>- Geographic key: Country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828800"/>
            <a:ext cx="20574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Feature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2468880"/>
            <a:ext cx="18745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13-Dimensional Feature Vector</a:t>
            </a:r>
            <a:br/>
            <a:r>
              <a:t>- Levenshtein &amp; Partial ratios</a:t>
            </a:r>
            <a:br/>
            <a:r>
              <a:t>- Token Sort &amp; Set similarities</a:t>
            </a:r>
            <a:br/>
            <a:r>
              <a:t>- Geographic &amp; Anchor matches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828800"/>
            <a:ext cx="20574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8936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ML Tournament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2468880"/>
            <a:ext cx="18745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Model Championship</a:t>
            </a:r>
            <a:br/>
            <a:r>
              <a:t>- Random Forest (200 Trees)</a:t>
            </a:r>
            <a:br/>
            <a:r>
              <a:t>- 5-Fold Stratified CV (99.1%)</a:t>
            </a:r>
            <a:br/>
            <a:r>
              <a:t>- Calibrated probability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828800"/>
            <a:ext cx="20574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5208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5. Graph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468880"/>
            <a:ext cx="18745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Transitive Entity Closure</a:t>
            </a:r>
            <a:br/>
            <a:r>
              <a:t>- Disjoint Set / Connected Graphs</a:t>
            </a:r>
            <a:br/>
            <a:r>
              <a:t>- Merges S1 &lt;-&gt; S2 &lt;-&gt; S3 pairs</a:t>
            </a:r>
            <a:br/>
            <a:r>
              <a:t>- Generates canonical cluster 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3: SCALABILITY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Intelligent Multi-Key Blocking: 1,055x Speedup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Blocking Benchmark on Test Data Pairs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Strategy Name                        | Logic Applied                      | Pairs Evaluated | Pruning Rate | Effective Speedup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--------------------------------------------------------------------------------------------------------------------------------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Naive (No Blocking - Baseline)       | Compare All Pairs (N x M)          | 2,500,000       | 0.00%        | 1.0x (Baseline)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Lesson 2: First Letter Blocking      | clean_name[:1]                     | 124,240         | 95.03%       | ~20x faster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Lesson 3: First 2 Letters Blocking   | clean_name[:2]                     | 17,579          | 99.30%       | ~142x faster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Lesson 4: Country-Level Partitioning | country == country                 | 981,088         | 60.76%       | ~2.5x faster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Lesson 5: Soundex Phonetic Indexing  | Soundex(first_token)               | 4,861           | 99.81%       | ~514x faster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Lesson 6: Multi-Key Hybrid (Champion)| Country + Soundex(first_token)     | 2,368           | 99.91%       | 1,055x FASTER! [CHAMPION]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FEATURE SCIENCE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13-Feature Engineering &amp; Empirical Feature Importance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Top Feature Importance (Random Forest)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BBF24"/>
                </a:solidFill>
                <a:latin typeface="Consolas"/>
              </a:defRPr>
            </a:pPr>
            <a:r>
              <a:t>1. name_similarity   21.87%  | Levenshtein edit distance on normalized name</a:t>
            </a:r>
          </a:p>
          <a:p>
            <a:pPr>
              <a:defRPr sz="1000">
                <a:solidFill>
                  <a:srgbClr val="FBBF24"/>
                </a:solidFill>
                <a:latin typeface="Consolas"/>
              </a:defRPr>
            </a:pPr>
            <a:r>
              <a:t>2. partial_ratio     19.93%  | Identifies strong substring overlap / brand core</a:t>
            </a:r>
          </a:p>
          <a:p>
            <a:pPr>
              <a:defRPr sz="1000">
                <a:solidFill>
                  <a:srgbClr val="FBBF24"/>
                </a:solidFill>
                <a:latin typeface="Consolas"/>
              </a:defRPr>
            </a:pPr>
            <a:r>
              <a:t>3. address_similarity 14.89%  | Full street address matching ratio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4. token_sort_ratio  13.71%  | Permutation invariant (e.g. 'Lab Alpha' = 'Alpha Lab')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5. token_set_ratio   11.18%  | Robust to added words (e.g. 'Clinic' vs 'Specialty Clinic')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6. common_word_count  8.88%  | Absolute lexical token overlap count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7. city_match         3.52%  | City level geographic consistency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8. first_word_match   3.31%  | Anchor token brand identification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Why Multi-Faceted Features?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• Resistance to Word Reordering: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Token Sort Ratio ensures that entities recorded in reverse format ('General Motors Corp' vs 'Motors General Corp') receive perfect match scores.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• Noise &amp; Suffix Robustness: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Token Set Ratio disregards extraneous noise tokens and duplicate descriptions, preventing false negatives.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• Anchor Brand Protection: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First-word exact matching and Soundex phonetic encoding ensure distinct brands with similar generic descriptions are not incorrectly merged.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• Geographic Constraints: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City, State, and Country matching prevent cross-border false positives between identically named regional stores.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MODEL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Championship Tournament: Model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5-Fold Stratified Cross-Validation &amp; Test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Algorithm                  | 5-Fold CV Mean | CV Std Dev | Precision  | Recall     | F1-Score   | Status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-------------------------------------------------------------------------------------------------------------------</a:t>
            </a:r>
          </a:p>
          <a:p>
            <a:pPr>
              <a:defRPr sz="1100" b="1">
                <a:solidFill>
                  <a:srgbClr val="34D399"/>
                </a:solidFill>
                <a:latin typeface="Consolas"/>
              </a:defRPr>
            </a:pPr>
            <a:r>
              <a:t>Random Forest (200 Trees)  | 99.10%         | +/- 0.43%  | 99.11%     | 99.55%     | 99.33%     | CHAMPION WINNER [★]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XGBoost Classifier         | 99.10%         | +/- 0.43%  | 98.80%     | 99.40%     | 99.10%     | Benchmark Baseline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LightGBM Classifier        | 99.10%         | +/- 0.47%  | 98.80%     | 99.30%     | 99.05%     | High Speed Baseline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Confusion Matrix Breakdown (Holdout Test of 450 Entity Pairs):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• True Negatives (TN)  : 223 pairs (Correctly distinguished different entities)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• True Positives (TP)  : 224 pairs (Accurately identified duplicate entities across sources)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• False Positives (FP) :   2 pairs (Ultra-rare identical address sharing)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• False Negatives (FN) :   1 pair  (Heavy acronym distortion)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Key Decision: Random Forest was selected for production due to superior precision (99.11%)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minimizing destructive erroneous customer record merges.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7 &amp; 8: RESOLUTION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Multi-Source Graph Linking &amp; Transitive Closure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Why Graph Linking is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Pairwise matching only resolves 2 records at a time (e.g. S1 &lt;-&gt; S2).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Enterprise reality involves N-way relationships: S1 matches S2, and S2 matches S3.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Without transitive closure, S1 and S3 remain isolated duplicates.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Connected Component Clustering groups all related entity records into a single Canonical Entity ID.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Generates clean, unified golden customer profiles across all operational databases.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Submission &amp; Cluster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4D399"/>
                </a:solidFill>
              </a:defRPr>
            </a:pPr>
            <a:r>
              <a:t>✔ Output Deliverables: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  Generated official submission files in 'output/submission.tsv' and 'output/submission.csv' matching competition specifications.</a:t>
            </a:r>
          </a:p>
          <a:p>
            <a:pPr>
              <a:defRPr b="1" sz="1200">
                <a:solidFill>
                  <a:srgbClr val="34D399"/>
                </a:solidFill>
              </a:defRPr>
            </a:pPr>
            <a:r>
              <a:t>✔ Consistent Transitivity: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  If A = B with 99% confidence and B = C with 98% confidence, cluster {A, B, C} is unified under one entity identifier.</a:t>
            </a:r>
          </a:p>
          <a:p>
            <a:pPr>
              <a:defRPr b="1" sz="1200">
                <a:solidFill>
                  <a:srgbClr val="34D399"/>
                </a:solidFill>
              </a:defRPr>
            </a:pPr>
            <a:r>
              <a:t>✔ Edge Case Conflict Resolution: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  Graph pruning threshold drops weak edges (&lt; 0.50 probability) before clustering to prevent transitive chain drift.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DEPLOYMENT &amp; NEXT STEPS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Production Inference &amp; Technical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Production Inference (predict.py)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Reusable Python API &amp; CLI interface.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Real-time pair scoring with confidence metrics.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Immediate breakdown of top feature contributions.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Sub-millisecond inference per candidate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Error Analysis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False Positives occur when franchise branches share corporate headquarters addresses.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False Negatives occur when brand names are heavily abbreviated (e.g. 'IBM' vs 'International Business Machines').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Mitigated via Soundex and Token Set ratios.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828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Dense Vector Embeddings (Sentence-Transformers / BAAI) combined with FAISS indexing.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Active Learning human-in-the-loop verification for marginal probabilities (45% - 55%).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Distributed PySpark implementation for 100M+ global enterprise entity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